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微软雅黑" a:ea="微软雅黑"/>
              </a:rPr>
              <a:t>商情罗盘  MarketCompass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9FC0FF"/>
                </a:solidFill>
                <a:latin typeface="微软雅黑" a:ea="微软雅黑"/>
              </a:rPr>
              <a:t>面向中小电商的公开商情洞察与 AI 选品参谋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11880"/>
            <a:ext cx="2926080" cy="4114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C8D6F0"/>
                </a:solidFill>
                <a:latin typeface="微软雅黑" a:ea="微软雅黑"/>
              </a:rPr>
              <a:t>把散落在各平台的公开销量信号、价格、榜单与评价，变成可执行、可追溯的决策建议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8FB4F8"/>
                </a:solidFill>
                <a:latin typeface="微软雅黑" a:ea="微软雅黑"/>
              </a:rPr>
              <a:t>销量代理指标（SPS）  ·  证据链重算校验  ·  四种透明数据口径  ·  全程合规采集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7E8FAD"/>
                </a:solidFill>
                <a:latin typeface="微软雅黑" a:ea="微软雅黑"/>
              </a:rPr>
              <a:t>AI 应用大赛 · 产业应用类   |   已跑通真实公开数据采集与端到端验证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00584" cy="4572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500" b="1">
                <a:solidFill>
                  <a:srgbClr val="16233D"/>
                </a:solidFill>
                <a:latin typeface="微软雅黑" a:ea="微软雅黑"/>
              </a:rPr>
              <a:t>中小卖家选品，卡在三个断层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我们访谈与调研的共同结论：不是没有数据，而是数据到决策之间断了三截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47472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8580" cy="283464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56232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① 数据散落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销量、价格、榜单、评价分散在不同平台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人工比价一次要数小时，且无法横向对比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抓下来的数据没有统一口径，越算越乱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47472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91640"/>
            <a:ext cx="68580" cy="2834640"/>
          </a:xfrm>
          <a:prstGeom prst="rect">
            <a:avLst/>
          </a:prstGeom>
          <a:solidFill>
            <a:srgbClr val="0F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856232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② 有数无结论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现有工具只给表格和图表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不告诉你「这个类目还值不值得进」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更不会给出定价区间与切入时机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91640"/>
            <a:ext cx="347472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691640"/>
            <a:ext cx="68580" cy="2834640"/>
          </a:xfrm>
          <a:prstGeom prst="rect">
            <a:avLst/>
          </a:prstGeom>
          <a:solidFill>
            <a:srgbClr val="B0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856232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③ 有模型无依据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直接问大模型「卖什么好」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答案空泛、无法验证，甚至凭空编造数字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没有数据背书，卖家不敢照着做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892040"/>
            <a:ext cx="10881360" cy="822960"/>
          </a:xfrm>
          <a:prstGeom prst="roundRect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F6FEB"/>
                </a:solidFill>
                <a:latin typeface="微软雅黑" a:ea="微软雅黑"/>
              </a:rPr>
              <a:t>断层所在，就是产品价值所在：我们补的正是「数据 → 结论 → 可执行动作」这一段。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商情罗盘 MarketCompass · AI 应用大赛（产业应用类）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00584" cy="4572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500" b="1">
                <a:solidFill>
                  <a:srgbClr val="16233D"/>
                </a:solidFill>
                <a:latin typeface="微软雅黑" a:ea="微软雅黑"/>
              </a:rPr>
              <a:t>商情罗盘：公开商情数据 → 可执行决策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用户只需输入一个商品名，30 秒内得到行情罗列 + 带证据的判断与建议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25146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2514600" cy="38404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a:ea="微软雅黑"/>
              </a:rPr>
              <a:t>数据接入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148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· 公开页面采集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· 官方开放平台 API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· 授权导入 / 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9544" y="24231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8E0EE"/>
                </a:solidFill>
                <a:latin typeface="微软雅黑" a:ea="微软雅黑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83080"/>
            <a:ext cx="25146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783080"/>
            <a:ext cx="2514600" cy="384048"/>
          </a:xfrm>
          <a:prstGeom prst="rect">
            <a:avLst/>
          </a:prstGeom>
          <a:solidFill>
            <a:srgbClr val="0F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a:ea="微软雅黑"/>
              </a:rPr>
              <a:t>指标层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31720"/>
            <a:ext cx="2148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· 清洗与同款对齐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· 销量代理指标 SPS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· 竞争集中度 CR5/HHI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8464" y="24231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8E0EE"/>
                </a:solidFill>
                <a:latin typeface="微软雅黑" a:ea="微软雅黑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25146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783080"/>
            <a:ext cx="2514600" cy="38404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828800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a:ea="微软雅黑"/>
              </a:rPr>
              <a:t>AI 决策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31720"/>
            <a:ext cx="2148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· 检索行业知识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· 生成建议动作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· 证据链重算校验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24231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8E0EE"/>
                </a:solidFill>
                <a:latin typeface="微软雅黑" a:ea="微软雅黑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783080"/>
            <a:ext cx="25146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59" y="1783080"/>
            <a:ext cx="2514600" cy="384048"/>
          </a:xfrm>
          <a:prstGeom prst="rect">
            <a:avLst/>
          </a:prstGeom>
          <a:solidFill>
            <a:srgbClr val="0F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59" y="1828800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a:ea="微软雅黑"/>
              </a:rPr>
              <a:t>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2331720"/>
            <a:ext cx="2148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· 行情看板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· 单品档案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· 报告导出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86200"/>
            <a:ext cx="534924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886200"/>
            <a:ext cx="68580" cy="192024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050791"/>
            <a:ext cx="4892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典型使用场景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卖家输入「保温杯」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系统解析标的 → 罗列 12 项行情指标 + 价格带 + 品牌份额 + 评价痛点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输出带证据链的定价锚点、差异化切入点与测款候选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86200"/>
            <a:ext cx="534924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886200"/>
            <a:ext cx="68580" cy="1920240"/>
          </a:xfrm>
          <a:prstGeom prst="rect">
            <a:avLst/>
          </a:prstGeom>
          <a:solidFill>
            <a:srgbClr val="0F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050791"/>
            <a:ext cx="4892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与现有工具的本质差异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现有工具：给数据，结论靠人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通用大模型：给结论，没有数据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商情罗盘：给结论，且每个数字都能回指标层重算复现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商情罗盘 MarketCompass · AI 应用大赛（产业应用类）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00584" cy="4572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500" b="1">
                <a:solidFill>
                  <a:srgbClr val="16233D"/>
                </a:solidFill>
                <a:latin typeface="微软雅黑" a:ea="微软雅黑"/>
              </a:rPr>
              <a:t>系统架构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五层分层设计；每种数据源一个适配器，下游 ETL / 指标 / AI / 看板零改动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1828800" cy="685800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828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a:ea="微软雅黑"/>
              </a:rPr>
              <a:t>应用层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691640"/>
            <a:ext cx="882396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69164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688"/>
                </a:solidFill>
                <a:latin typeface="微软雅黑" a:ea="微软雅黑"/>
              </a:rPr>
              <a:t>品类大盘 · 商品行情分析 · 商品排行 · 单品档案 · AI 选品参谋 · 合规审计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32888"/>
            <a:ext cx="1828800" cy="685800"/>
          </a:xfrm>
          <a:prstGeom prst="roundRect">
            <a:avLst/>
          </a:prstGeom>
          <a:solidFill>
            <a:srgbClr val="0F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32888"/>
            <a:ext cx="1828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a:ea="微软雅黑"/>
              </a:rPr>
              <a:t>AI 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532888"/>
            <a:ext cx="882396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532888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688"/>
                </a:solidFill>
                <a:latin typeface="微软雅黑" a:ea="微软雅黑"/>
              </a:rPr>
              <a:t>检索编排（RAG） · 指标查询工具 · LLM 生成 · 证据链重算校验器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74136"/>
            <a:ext cx="1828800" cy="685800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74136"/>
            <a:ext cx="1828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a:ea="微软雅黑"/>
              </a:rPr>
              <a:t>计算层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3374136"/>
            <a:ext cx="882396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337413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688"/>
                </a:solidFill>
                <a:latin typeface="微软雅黑" a:ea="微软雅黑"/>
              </a:rPr>
              <a:t>清洗标准化 · 跨平台同款对齐 · SPS 指标引擎（四种口径） · 评价挖掘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15384"/>
            <a:ext cx="1828800" cy="685800"/>
          </a:xfrm>
          <a:prstGeom prst="roundRect">
            <a:avLst/>
          </a:prstGeom>
          <a:solidFill>
            <a:srgbClr val="0F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15384"/>
            <a:ext cx="1828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a:ea="微软雅黑"/>
              </a:rPr>
              <a:t>存储层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4215384"/>
            <a:ext cx="882396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21538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688"/>
                </a:solidFill>
                <a:latin typeface="微软雅黑" a:ea="微软雅黑"/>
              </a:rPr>
              <a:t>原始层归档（不可变快照） · SQLite 业务库 · 指标表 · 审计台账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56632"/>
            <a:ext cx="1828800" cy="685800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056632"/>
            <a:ext cx="1828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a:ea="微软雅黑"/>
              </a:rPr>
              <a:t>接入层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80" y="5056632"/>
            <a:ext cx="882396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5056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688"/>
                </a:solidFill>
                <a:latin typeface="微软雅黑" a:ea="微软雅黑"/>
              </a:rPr>
              <a:t>苏宁公开页适配器 · 官方 API 适配器（淘宝/京东/拼多多） · 演示数据源 · 限速与 robots 判定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商情罗盘 MarketCompass · AI 应用大赛（产业应用类）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00584" cy="4572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500" b="1">
                <a:solidFill>
                  <a:srgbClr val="16233D"/>
                </a:solidFill>
                <a:latin typeface="微软雅黑" a:ea="微软雅黑"/>
              </a:rPr>
              <a:t>核心功能一：输入任意商品，得到行情分析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用户不需要懂类目体系，直接输入想投资的商品名即可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47472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68580" cy="27432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10512"/>
            <a:ext cx="3017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① 解析标的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词典（类目名 + 别名 + 品牌）+ 字符 bigram 相似度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输出匹配标的、匹配依据、匹配度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阈值 0.5；品牌输入自动落到主销类目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实测：「保温杯」「露营装备」「慕思家」全部命中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645920"/>
            <a:ext cx="68580" cy="2743200"/>
          </a:xfrm>
          <a:prstGeom prst="rect">
            <a:avLst/>
          </a:prstGeom>
          <a:solidFill>
            <a:srgbClr val="0F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810512"/>
            <a:ext cx="3017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② 罗列行情数据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12 张 KPI：规模 / 环比 / CR5 / HHI / 品牌 CR3 / 供需缺口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价格带分布、品牌份额、细分结构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销量代理 Top12、增长最快 / 下滑最明显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评价关键词分痛点与卖点两组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645920"/>
            <a:ext cx="356616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45920"/>
            <a:ext cx="68580" cy="2743200"/>
          </a:xfrm>
          <a:prstGeom prst="rect">
            <a:avLst/>
          </a:prstGeom>
          <a:solidFill>
            <a:srgbClr val="B0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810512"/>
            <a:ext cx="31089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③ 生成判断与建议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结论：走势、竞争结构、机会点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建议动作：定价锚点、差异化切入点、测款候选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每条动作绑定一个可复现指标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风险提示 + 局限性声明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617720"/>
            <a:ext cx="10881360" cy="1051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3659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6233D"/>
                </a:solidFill>
                <a:latin typeface="微软雅黑" a:ea="微软雅黑"/>
              </a:rPr>
              <a:t>未覆盖不编造：匹配度低于阈值时明确返回「数据未覆盖」，并给出最接近的候选标的。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实测：「猫爬架」在苏宁仅 1 条相关供给（页面其余 26 条是推荐位的无关商品），系统如实呈现而非凑数。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商情罗盘 MarketCompass · AI 应用大赛（产业应用类）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00584" cy="4572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500" b="1">
                <a:solidFill>
                  <a:srgbClr val="16233D"/>
                </a:solidFill>
                <a:latin typeface="微软雅黑" a:ea="微软雅黑"/>
              </a:rPr>
              <a:t>核心功能二：AI 建议必须带证据链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每条结论都绑定指标名 + 数值 + 周期 + 来源 + 置信度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5486400" cy="39319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FC0FF"/>
                </a:solidFill>
                <a:latin typeface="微软雅黑" a:ea="微软雅黑"/>
              </a:rPr>
              <a:t>AI 输出结构（节选）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51206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CFE0FF"/>
                </a:solidFill>
                <a:latin typeface="微软雅黑" a:ea="微软雅黑"/>
              </a:rPr>
              <a:t>"summary": "一句话结论"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CFE0FF"/>
                </a:solidFill>
                <a:latin typeface="微软雅黑" a:ea="微软雅黑"/>
              </a:rPr>
              <a:t>"evidence": [{"metric": "market.cr5:保温杯", "value": 0.98,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CFE0FF"/>
                </a:solidFill>
                <a:latin typeface="微软雅黑" a:ea="微软雅黑"/>
              </a:rPr>
              <a:t>              "period": "2026-10-15", "confidence": 0.46,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CFE0FF"/>
                </a:solidFill>
                <a:latin typeface="微软雅黑" a:ea="微软雅黑"/>
              </a:rPr>
              <a:t>"actions":  [{"step": "定价锚定 …", "evidence_metric": "…"}]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CFE0FF"/>
                </a:solidFill>
                <a:latin typeface="微软雅黑" a:ea="微软雅黑"/>
              </a:rPr>
              <a:t>"risks" / "limitations" / "verification"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37360"/>
            <a:ext cx="50749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792224"/>
            <a:ext cx="46634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50" b="1">
                <a:solidFill>
                  <a:srgbClr val="2F6FEB"/>
                </a:solidFill>
                <a:latin typeface="微软雅黑" a:ea="微软雅黑"/>
              </a:rPr>
              <a:t>1. 生成建议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7688"/>
                </a:solidFill>
                <a:latin typeface="微软雅黑" a:ea="微软雅黑"/>
              </a:rPr>
              <a:t>模型只组织语言，不产生数字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542032"/>
            <a:ext cx="50749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596896"/>
            <a:ext cx="46634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50" b="1">
                <a:solidFill>
                  <a:srgbClr val="2F6FEB"/>
                </a:solidFill>
                <a:latin typeface="微软雅黑" a:ea="微软雅黑"/>
              </a:rPr>
              <a:t>2. 提取引用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7688"/>
                </a:solidFill>
                <a:latin typeface="微软雅黑" a:ea="微软雅黑"/>
              </a:rPr>
              <a:t>解析出全部 evidence 指标名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346704"/>
            <a:ext cx="50749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3401568"/>
            <a:ext cx="46634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50" b="1">
                <a:solidFill>
                  <a:srgbClr val="2F6FEB"/>
                </a:solidFill>
                <a:latin typeface="微软雅黑" a:ea="微软雅黑"/>
              </a:rPr>
              <a:t>3. 回指标层重算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7688"/>
                </a:solidFill>
                <a:latin typeface="微软雅黑" a:ea="微软雅黑"/>
              </a:rPr>
              <a:t>按指标名重新执行查询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151376"/>
            <a:ext cx="50749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4206240"/>
            <a:ext cx="46634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50" b="1">
                <a:solidFill>
                  <a:srgbClr val="2F6FEB"/>
                </a:solidFill>
                <a:latin typeface="微软雅黑" a:ea="微软雅黑"/>
              </a:rPr>
              <a:t>4. 逐条比对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7688"/>
                </a:solidFill>
                <a:latin typeface="微软雅黑" a:ea="微软雅黑"/>
              </a:rPr>
              <a:t>相对容差 0.5%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956048"/>
            <a:ext cx="50749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5010912"/>
            <a:ext cx="46634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50" b="1">
                <a:solidFill>
                  <a:srgbClr val="2F6FEB"/>
                </a:solidFill>
                <a:latin typeface="微软雅黑" a:ea="微软雅黑"/>
              </a:rPr>
              <a:t>5. 判定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7688"/>
                </a:solidFill>
                <a:latin typeface="微软雅黑" a:ea="微软雅黑"/>
              </a:rPr>
              <a:t>任一条不通过 → 整体降级为「数据不足」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779008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8F80"/>
                </a:solidFill>
                <a:latin typeface="微软雅黑" a:ea="微软雅黑"/>
              </a:rPr>
              <a:t>★ 这是用架构抑制幻觉，而不是靠提示词祈祷模型别乱说。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商情罗盘 MarketCompass · AI 应用大赛（产业应用类）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00584" cy="4572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500" b="1">
                <a:solidFill>
                  <a:srgbClr val="16233D"/>
                </a:solidFill>
                <a:latin typeface="微软雅黑" a:ea="微软雅黑"/>
              </a:rPr>
              <a:t>关键技术一：销量代理指标 SPS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公开数据拿不到平台真实销量——这是我们实测的硬结论，也是设计的前提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81360" cy="13716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55648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B06608"/>
                </a:solidFill>
                <a:latin typeface="微软雅黑" a:ea="微软雅黑"/>
              </a:rPr>
              <a:t>实测证据（2026-10-15）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京东搜索页只返回 2.7KB 空壳；商品页价格由 JS 异步加载（36KB HTML 里没有价格）；p.3.cn 价格接口超时；淘宝与唯品会的 robots.txt 明确 Disallow 搜索页；京东 / 当当的 robots.txt 被替换成首页 HTML。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3200400"/>
          <a:ext cx="10881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377440"/>
                <a:gridCol w="4297680"/>
                <a:gridCol w="1371600"/>
              </a:tblGrid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a:ea="微软雅黑"/>
                        </a:rPr>
                        <a:t>口径 mode</a:t>
                      </a:r>
                    </a:p>
                  </a:txBody>
                  <a:tcPr marL="73152" marT="27432">
                    <a:solidFill>
                      <a:srgbClr val="2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a:ea="微软雅黑"/>
                        </a:rPr>
                        <a:t>触发条件</a:t>
                      </a:r>
                    </a:p>
                  </a:txBody>
                  <a:tcPr marL="73152" marT="27432">
                    <a:solidFill>
                      <a:srgbClr val="2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a:ea="微软雅黑"/>
                        </a:rPr>
                        <a:t>计算方式</a:t>
                      </a:r>
                    </a:p>
                  </a:txBody>
                  <a:tcPr marL="73152" marT="27432">
                    <a:solidFill>
                      <a:srgbClr val="2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a:ea="微软雅黑"/>
                        </a:rPr>
                        <a:t>置信度上限</a:t>
                      </a:r>
                    </a:p>
                  </a:txBody>
                  <a:tcPr marL="73152" marT="27432">
                    <a:solidFill>
                      <a:srgbClr val="2F6F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233D"/>
                          </a:solidFill>
                          <a:latin typeface="微软雅黑" a:ea="微软雅黑"/>
                        </a:rPr>
                        <a:t>full_signal</a:t>
                      </a:r>
                    </a:p>
                  </a:txBody>
                  <a:tcPr marL="73152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有公开已售件数增量</a:t>
                      </a:r>
                    </a:p>
                  </a:txBody>
                  <a:tcPr marL="73152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0.58·Δ已售 + 0.24·评价反推 + 0.18·榜单分位</a:t>
                      </a:r>
                    </a:p>
                  </a:txBody>
                  <a:tcPr marL="73152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0.96</a:t>
                      </a:r>
                    </a:p>
                  </a:txBody>
                  <a:tcPr marL="73152" marT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233D"/>
                          </a:solidFill>
                          <a:latin typeface="微软雅黑" a:ea="微软雅黑"/>
                        </a:rPr>
                        <a:t>api_volume_direct</a:t>
                      </a:r>
                    </a:p>
                  </a:txBody>
                  <a:tcPr marL="73152" marT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官方 API 滚动销量</a:t>
                      </a:r>
                    </a:p>
                  </a:txBody>
                  <a:tcPr marL="73152" marT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直接作为规模值，不做增量推算</a:t>
                      </a:r>
                    </a:p>
                  </a:txBody>
                  <a:tcPr marL="73152" marT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0.85</a:t>
                      </a:r>
                    </a:p>
                  </a:txBody>
                  <a:tcPr marL="73152" marT="27432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233D"/>
                          </a:solidFill>
                          <a:latin typeface="微软雅黑" a:ea="微软雅黑"/>
                        </a:rPr>
                        <a:t>single_snapshot_stock_basis</a:t>
                      </a:r>
                    </a:p>
                  </a:txBody>
                  <a:tcPr marL="73152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公开页仅 1 天快照</a:t>
                      </a:r>
                    </a:p>
                  </a:txBody>
                  <a:tcPr marL="73152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评价存量 ÷ 转化率 ÷ 假设窗口 90 天</a:t>
                      </a:r>
                    </a:p>
                  </a:txBody>
                  <a:tcPr marL="73152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0.46</a:t>
                      </a:r>
                    </a:p>
                  </a:txBody>
                  <a:tcPr marL="73152" marT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233D"/>
                          </a:solidFill>
                          <a:latin typeface="微软雅黑" a:ea="微软雅黑"/>
                        </a:rPr>
                        <a:t>review_increment_basis</a:t>
                      </a:r>
                    </a:p>
                  </a:txBody>
                  <a:tcPr marL="73152" marT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公开页 ≥2 天</a:t>
                      </a:r>
                    </a:p>
                  </a:txBody>
                  <a:tcPr marL="73152" marT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评价增量 ÷ 类目评价转化率</a:t>
                      </a:r>
                    </a:p>
                  </a:txBody>
                  <a:tcPr marL="73152" marT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0.46</a:t>
                      </a:r>
                    </a:p>
                  </a:txBody>
                  <a:tcPr marL="73152" marT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4864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F8F80"/>
                </a:solidFill>
                <a:latin typeface="微软雅黑" a:ea="微软雅黑"/>
              </a:rPr>
              <a:t>★ 我们不把估算包装成真值：置信度低的自动压低，环比不可用时明确写「暂不可用」而不是给 0%。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商情罗盘 MarketCompass · AI 应用大赛（产业应用类）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00584" cy="4572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500" b="1">
                <a:solidFill>
                  <a:srgbClr val="16233D"/>
                </a:solidFill>
                <a:latin typeface="微软雅黑" a:ea="微软雅黑"/>
              </a:rPr>
              <a:t>数据源与合规：能抓什么，不抓什么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合规不是答辩时的补丁，而是写进采集器的硬约束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8521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03120"/>
                <a:gridCol w="2194560"/>
              </a:tblGrid>
              <a:tr h="4343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 a:ea="微软雅黑"/>
                        </a:rPr>
                        <a:t>数据源</a:t>
                      </a:r>
                    </a:p>
                  </a:txBody>
                  <a:tcPr marL="64008">
                    <a:solidFill>
                      <a:srgbClr val="2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 a:ea="微软雅黑"/>
                        </a:rPr>
                        <a:t>接入方式</a:t>
                      </a:r>
                    </a:p>
                  </a:txBody>
                  <a:tcPr marL="64008">
                    <a:solidFill>
                      <a:srgbClr val="2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 a:ea="微软雅黑"/>
                        </a:rPr>
                        <a:t>实测结果</a:t>
                      </a:r>
                    </a:p>
                  </a:txBody>
                  <a:tcPr marL="64008">
                    <a:solidFill>
                      <a:srgbClr val="2F6FE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苏宁易购</a:t>
                      </a:r>
                    </a:p>
                  </a:txBody>
                  <a:tcPr marL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公开搜索结果页</a:t>
                      </a:r>
                    </a:p>
                  </a:txBody>
                  <a:tcPr marL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✅ 稳定解析 SKU/标题/卖点/评价数/店铺/排名</a:t>
                      </a:r>
                    </a:p>
                  </a:txBody>
                  <a:tcPr marL="6400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官方开放平台</a:t>
                      </a:r>
                    </a:p>
                  </a:txBody>
                  <a:tcPr marL="6400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淘宝 / 京东 / 拼多多授权接口</a:t>
                      </a:r>
                    </a:p>
                  </a:txBody>
                  <a:tcPr marL="6400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✅ 适配器与配置向导完成，待凭据启用</a:t>
                      </a:r>
                    </a:p>
                  </a:txBody>
                  <a:tcPr marL="64008">
                    <a:solidFill>
                      <a:srgbClr val="F5F7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演示数据集</a:t>
                      </a:r>
                    </a:p>
                  </a:txBody>
                  <a:tcPr marL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本地合成</a:t>
                      </a:r>
                    </a:p>
                  </a:txBody>
                  <a:tcPr marL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688"/>
                          </a:solidFill>
                          <a:latin typeface="微软雅黑" a:ea="微软雅黑"/>
                        </a:rPr>
                        <a:t>✅ 4 大类 15 子类 / 356 商品 / 19,936 条日指标</a:t>
                      </a:r>
                    </a:p>
                  </a:txBody>
                  <a:tcPr marL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3611880"/>
            <a:ext cx="58521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611880"/>
            <a:ext cx="68580" cy="2286000"/>
          </a:xfrm>
          <a:prstGeom prst="rect">
            <a:avLst/>
          </a:prstGeom>
          <a:solidFill>
            <a:srgbClr val="0F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3776472"/>
            <a:ext cx="5394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合规红线（已写入代码）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遵守 robots.txt，且识别「robots.txt 被返回成首页 HTML」的陷阱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默认限速 3 秒/请求，不并发、不重试轰炸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不采集任何个人信息（无用户 ID、无评论正文）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不绕过登录与风控；被禁止的平台直接不抓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每次采集写审计台账：来源 / URL / 时间 / robots 判定 / 字段 / 批次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45920"/>
            <a:ext cx="470916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1645920"/>
            <a:ext cx="68580" cy="4251960"/>
          </a:xfrm>
          <a:prstGeom prst="rect">
            <a:avLst/>
          </a:prstGeom>
          <a:solidFill>
            <a:srgbClr val="B0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4032" y="1810512"/>
            <a:ext cx="425196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为什么坚持合规路线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灰产式抓包（逆向 App 接口、绕过签名与验证码）违反平台协议，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可能触及《反不正当竞争法》《数据安全法》，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在产业应用赛道属于一票否决风险。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我们选择：公开数据 + 官方授权接口 + 用户授权导入，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并把每次采集的合规判定写进审计台账，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答辩时可以直接回答「这条数据哪来的」。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代价是数据完整度不如灰产，收益是产品可以真的落地。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商情罗盘 MarketCompass · AI 应用大赛（产业应用类）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00584" cy="4572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500" b="1">
                <a:solidFill>
                  <a:srgbClr val="16233D"/>
                </a:solidFill>
                <a:latin typeface="微软雅黑" a:ea="微软雅黑"/>
              </a:rPr>
              <a:t>实测结果：真实数据已跑通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不是概念演示——真实公开数据已入库并跑完全链路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542032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254203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2F6FEB"/>
                </a:solidFill>
                <a:latin typeface="微软雅黑" a:ea="微软雅黑"/>
              </a:rPr>
              <a:t>73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6233D"/>
                </a:solidFill>
                <a:latin typeface="微软雅黑" a:ea="微软雅黑"/>
              </a:rPr>
              <a:t>个真实商品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7688"/>
                </a:solidFill>
                <a:latin typeface="微软雅黑" a:ea="微软雅黑"/>
              </a:rPr>
              <a:t>苏宁公开搜索页实测入库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91640"/>
            <a:ext cx="2542032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828800"/>
            <a:ext cx="254203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2F6FEB"/>
                </a:solidFill>
                <a:latin typeface="微软雅黑" a:ea="微软雅黑"/>
              </a:rPr>
              <a:t>19,936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6233D"/>
                </a:solidFill>
                <a:latin typeface="微软雅黑" a:ea="微软雅黑"/>
              </a:rPr>
              <a:t>条日指标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7688"/>
                </a:solidFill>
                <a:latin typeface="微软雅黑" a:ea="微软雅黑"/>
              </a:rPr>
              <a:t>演示数据集 + 真实数据合计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2542032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254203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2F6FEB"/>
                </a:solidFill>
                <a:latin typeface="微软雅黑" a:ea="微软雅黑"/>
              </a:rPr>
              <a:t>44 / 18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6233D"/>
                </a:solidFill>
                <a:latin typeface="微软雅黑" a:ea="微软雅黑"/>
              </a:rPr>
              <a:t>项测试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7688"/>
                </a:solidFill>
                <a:latin typeface="微软雅黑" a:ea="微软雅黑"/>
              </a:rPr>
              <a:t>端到端冒烟 + 适配器单元测试全通过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59" y="1691640"/>
            <a:ext cx="2542032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59" y="1828800"/>
            <a:ext cx="254203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2F6FEB"/>
                </a:solidFill>
                <a:latin typeface="微软雅黑" a:ea="微软雅黑"/>
              </a:rPr>
              <a:t>0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6233D"/>
                </a:solidFill>
                <a:latin typeface="微软雅黑" a:ea="微软雅黑"/>
              </a:rPr>
              <a:t>第三方依赖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7688"/>
                </a:solidFill>
                <a:latin typeface="微软雅黑" a:ea="微软雅黑"/>
              </a:rPr>
              <a:t>纯 Python 标准库，两条命令复现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11880"/>
            <a:ext cx="5349240" cy="2606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611880"/>
            <a:ext cx="68580" cy="260604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776472"/>
            <a:ext cx="489204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真实数据下的分析输出（节选）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「保温杯」：29 个真实商品，CR5=0.98、HHI=0.193（高度集中）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建议动作 3 条，均为真实商品（JEKO / 希乐 / 炊大皇）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每条建议附证据指标，证据链校验通过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报告自动标注：环比暂不可用、价格未采集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11880"/>
            <a:ext cx="5349240" cy="2606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611880"/>
            <a:ext cx="68580" cy="2606040"/>
          </a:xfrm>
          <a:prstGeom prst="rect">
            <a:avLst/>
          </a:prstGeom>
          <a:solidFill>
            <a:srgbClr val="B0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776472"/>
            <a:ext cx="489204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过程中发现并修复的真实问题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搜「猫爬架」27 条里 26 条是无关推荐位商品 → 加相关性过滤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同款不同颜色的 SKU 标题相同 → 建议重复 3 条 → 按前缀归组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官方 API 返回的是滚动销量 → 不能当累计值相减 → 新增独立口径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演示数据与真实数据时间轴不一致 → 混合时窗口失效 → 对齐当天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商情罗盘 MarketCompass · AI 应用大赛（产业应用类）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00584" cy="4572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500" b="1">
                <a:solidFill>
                  <a:srgbClr val="16233D"/>
                </a:solidFill>
                <a:latin typeface="微软雅黑" a:ea="微软雅黑"/>
              </a:rPr>
              <a:t>产业价值与落地路径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从「靠经验试错」到「靠证据决策」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8580" cy="228600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56232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目标用户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中小电商卖家 / 个体创业者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品牌市场部与选品团队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投研与咨询分析师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代运营与电商服务商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9164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691640"/>
            <a:ext cx="68580" cy="2286000"/>
          </a:xfrm>
          <a:prstGeom prst="rect">
            <a:avLst/>
          </a:prstGeom>
          <a:solidFill>
            <a:srgbClr val="0F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856232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直接价值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把数小时人工比价压缩到 30 秒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降低选品试错与压货风险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定价有锚点、切入有理由、风险有提示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每条结论可追溯到数据来源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691640"/>
            <a:ext cx="35661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91640"/>
            <a:ext cx="68580" cy="2286000"/>
          </a:xfrm>
          <a:prstGeom prst="rect">
            <a:avLst/>
          </a:prstGeom>
          <a:solidFill>
            <a:srgbClr val="B0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856232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33D"/>
                </a:solidFill>
                <a:latin typeface="微软雅黑" a:ea="微软雅黑"/>
              </a:rPr>
              <a:t>商业模式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SaaS 订阅（按类目 / 席位）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单份市场机会报告按次付费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为服务商提供批量选品 API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688"/>
                </a:solidFill>
                <a:latin typeface="微软雅黑" a:ea="微软雅黑"/>
              </a:rPr>
              <a:t>数据合规，可对接企业采购流程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06240"/>
            <a:ext cx="2011680" cy="457200"/>
          </a:xfrm>
          <a:prstGeom prst="roundRect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F6FEB"/>
                </a:solidFill>
                <a:latin typeface="微软雅黑" a:ea="微软雅黑"/>
              </a:rPr>
              <a:t>已完成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42062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真实公开数据采集 + 指标 + AI 建议 + 看板全链路跑通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54879"/>
            <a:ext cx="2011680" cy="457200"/>
          </a:xfrm>
          <a:prstGeom prst="roundRect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54879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F6FEB"/>
                </a:solidFill>
                <a:latin typeface="微软雅黑" a:ea="微软雅黑"/>
              </a:rPr>
              <a:t>下一步（短期）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754879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启用官方 API 补真实销量与价格；支持用户粘贴页面 / 浏览器书签采集长尾站点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303520"/>
            <a:ext cx="2011680" cy="457200"/>
          </a:xfrm>
          <a:prstGeom prst="roundRect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0352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F6FEB"/>
                </a:solidFill>
                <a:latin typeface="微软雅黑" a:ea="微软雅黑"/>
              </a:rPr>
              <a:t>下一步（中期）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530352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Agent 自动生成《某品类市场机会研究报告》；对接商家后台做授权导入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852159"/>
            <a:ext cx="2011680" cy="457200"/>
          </a:xfrm>
          <a:prstGeom prst="roundRect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52159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F6FEB"/>
                </a:solidFill>
                <a:latin typeface="微软雅黑" a:ea="微软雅黑"/>
              </a:rPr>
              <a:t>下一步（长期）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852159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B7688"/>
                </a:solidFill>
                <a:latin typeface="微软雅黑" a:ea="微软雅黑"/>
              </a:rPr>
              <a:t>沉淀行业级商情数据库，输出类目指数与趋势预测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商情罗盘 MarketCompass · AI 应用大赛（产业应用类）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B7688"/>
                </a:solidFill>
                <a:latin typeface="微软雅黑" a:ea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 a:ea="微软雅黑"/>
              </a:rPr>
              <a:t>让每一个选品决策，都有数据可依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246120"/>
            <a:ext cx="2743200" cy="41148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9FC0FF"/>
                </a:solidFill>
                <a:latin typeface="微软雅黑" a:ea="微软雅黑"/>
              </a:rPr>
              <a:t>商情罗盘 MarketCompass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 b="0">
                <a:solidFill>
                  <a:srgbClr val="C8D6F0"/>
                </a:solidFill>
                <a:latin typeface="微软雅黑" a:ea="微软雅黑"/>
              </a:rPr>
              <a:t>73 个真实商品已入库   ·   19,936 条日指标   ·   62 项测试通过   ·   0 第三方依赖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E8FAD"/>
                </a:solidFill>
                <a:latin typeface="微软雅黑" a:ea="微软雅黑"/>
              </a:rPr>
              <a:t>感谢观看，欢迎提问与指正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